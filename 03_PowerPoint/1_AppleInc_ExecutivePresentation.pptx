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inika%20Dharanipathi\Desktop\Nainika\HS%20Roadmap\Finance\Corporate%20Development%20Portfolio\1_AppleInc_Financial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inika%20Dharanipathi\Desktop\Nainika\HS%20Roadmap\Finance\Corporate%20Development%20Portfolio\1_AppleInc_Financial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inika%20Dharanipathi\Desktop\Nainika\HS%20Roadmap\Finance\Corporate%20Development%20Portfolio\1_AppleInc_Financial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Apple Revenue &amp; Net Income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Financials!$B$3:$D$3</c:f>
              <c:strCache>
                <c:ptCount val="3"/>
                <c:pt idx="0">
                  <c:v>FY2024</c:v>
                </c:pt>
                <c:pt idx="1">
                  <c:v>FY2025</c:v>
                </c:pt>
                <c:pt idx="2">
                  <c:v>FY2026 YTD</c:v>
                </c:pt>
              </c:strCache>
            </c:strRef>
          </c:cat>
          <c:val>
            <c:numRef>
              <c:f>Financials!$B$4:$D$4</c:f>
              <c:numCache>
                <c:formatCode>General</c:formatCode>
                <c:ptCount val="3"/>
                <c:pt idx="0">
                  <c:v>391035</c:v>
                </c:pt>
                <c:pt idx="1">
                  <c:v>416161</c:v>
                </c:pt>
                <c:pt idx="2">
                  <c:v>328032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F4-433B-9E3D-00D385638ADE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Financials!$B$3:$D$3</c:f>
              <c:strCache>
                <c:ptCount val="3"/>
                <c:pt idx="0">
                  <c:v>FY2024</c:v>
                </c:pt>
                <c:pt idx="1">
                  <c:v>FY2025</c:v>
                </c:pt>
                <c:pt idx="2">
                  <c:v>FY2026 YTD</c:v>
                </c:pt>
              </c:strCache>
            </c:strRef>
          </c:cat>
          <c:val>
            <c:numRef>
              <c:f>Financials!$B$5:$D$5</c:f>
              <c:numCache>
                <c:formatCode>General</c:formatCode>
                <c:ptCount val="3"/>
                <c:pt idx="0">
                  <c:v>93736</c:v>
                </c:pt>
                <c:pt idx="1">
                  <c:v>112010</c:v>
                </c:pt>
                <c:pt idx="2">
                  <c:v>101464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FF4-433B-9E3D-00D385638A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97832399"/>
        <c:axId val="1520140799"/>
      </c:lineChart>
      <c:catAx>
        <c:axId val="17978323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Fiscal Period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0140799"/>
        <c:crosses val="autoZero"/>
        <c:auto val="1"/>
        <c:lblAlgn val="ctr"/>
        <c:lblOffset val="100"/>
        <c:noMultiLvlLbl val="0"/>
      </c:catAx>
      <c:valAx>
        <c:axId val="15201407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USD (millions)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8323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Apple Free Cash Flow by Fiscal Year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(Financials!$B$3,Financials!$C$3,Financials!$D$3)</c:f>
              <c:strCache>
                <c:ptCount val="3"/>
                <c:pt idx="0">
                  <c:v>FY2024</c:v>
                </c:pt>
                <c:pt idx="1">
                  <c:v>FY2025</c:v>
                </c:pt>
                <c:pt idx="2">
                  <c:v>FY2026 YTD</c:v>
                </c:pt>
              </c:strCache>
            </c:strRef>
          </c:cat>
          <c:val>
            <c:numRef>
              <c:f>(Financials!$B$13,Financials!$C$13,Financials!$D$13)</c:f>
              <c:numCache>
                <c:formatCode>General</c:formatCode>
                <c:ptCount val="3"/>
                <c:pt idx="0">
                  <c:v>108807</c:v>
                </c:pt>
                <c:pt idx="1">
                  <c:v>98767</c:v>
                </c:pt>
                <c:pt idx="2">
                  <c:v>110197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B6-4621-A47C-0CA280BB2F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14664719"/>
        <c:axId val="1914579903"/>
      </c:barChart>
      <c:catAx>
        <c:axId val="19146647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Fiscal Period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4579903"/>
        <c:crosses val="autoZero"/>
        <c:auto val="1"/>
        <c:lblAlgn val="ctr"/>
        <c:lblOffset val="100"/>
        <c:noMultiLvlLbl val="0"/>
      </c:catAx>
      <c:valAx>
        <c:axId val="1914579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Free Cash Flow (millions)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4664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M&amp;A Capability Attractiveness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'M&amp;A Analysis'!$A$4:$A$8</c:f>
              <c:strCache>
                <c:ptCount val="5"/>
                <c:pt idx="0">
                  <c:v>AI / Machine Learning</c:v>
                </c:pt>
                <c:pt idx="1">
                  <c:v>Health Technology</c:v>
                </c:pt>
                <c:pt idx="2">
                  <c:v>Semiconductor / Chip Technology</c:v>
                </c:pt>
                <c:pt idx="3">
                  <c:v>Robotics / Automation</c:v>
                </c:pt>
                <c:pt idx="4">
                  <c:v>Content / Media Technology</c:v>
                </c:pt>
              </c:strCache>
            </c:strRef>
          </c:cat>
          <c:val>
            <c:numRef>
              <c:f>'M&amp;A Analysis'!$H$4:$H$8</c:f>
              <c:numCache>
                <c:formatCode>General</c:formatCode>
                <c:ptCount val="5"/>
                <c:pt idx="0">
                  <c:v>7.4</c:v>
                </c:pt>
                <c:pt idx="1">
                  <c:v>7.2</c:v>
                </c:pt>
                <c:pt idx="2">
                  <c:v>7.4</c:v>
                </c:pt>
                <c:pt idx="3">
                  <c:v>6.6</c:v>
                </c:pt>
                <c:pt idx="4">
                  <c:v>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1B-4E1D-81AE-BFFBF28969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706631327"/>
        <c:axId val="1914589983"/>
      </c:barChart>
      <c:catAx>
        <c:axId val="170663132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Capability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4589983"/>
        <c:crosses val="autoZero"/>
        <c:auto val="1"/>
        <c:lblAlgn val="ctr"/>
        <c:lblOffset val="100"/>
        <c:noMultiLvlLbl val="0"/>
      </c:catAx>
      <c:valAx>
        <c:axId val="19145899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Strategic Attractiveness 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66313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FE186-B570-AE93-A11E-03BC30EF3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84C1A-B3E6-42C4-F9AD-486795DF9A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8C7A4-D612-3BE7-B6B3-1290FCB5A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26E3-93F3-4C0A-BA91-E164AE45A18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D0578-900D-7F25-195D-4DDD385D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E63E7-2C8B-904D-41F9-07B4C8C42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6472F-4B11-4668-8FCF-A88903E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48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4D54C-3E8B-01E3-04B1-AA096D17F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CE58F-B0D9-DF20-EC74-7520B98CE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B73CB-AEC2-A315-B5E6-810EFDE2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26E3-93F3-4C0A-BA91-E164AE45A18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3B283-CE0F-E3E9-3102-57BA545E7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A1AC-A5F3-47C6-1454-A30E67A5C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6472F-4B11-4668-8FCF-A88903E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6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57F53-364C-7344-592E-7E44E80FA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E7440-481A-80F2-7CEE-A1F36ABA1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9E859-FADE-4602-41C9-8C9EBAAFE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26E3-93F3-4C0A-BA91-E164AE45A18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938B1-A515-48B6-A147-22B6D1066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3531D-7C5F-7F07-2B26-645E3B129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6472F-4B11-4668-8FCF-A88903E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55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FA890-F226-4A25-3BA9-851519B1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83875-4EC2-3EDA-5EBF-CC09C7E74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32F20-3EAC-069A-AD88-B5DF4C110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66773-8BEC-4904-221D-D89F1548A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26E3-93F3-4C0A-BA91-E164AE45A18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DA9C0-6D2A-F133-1948-668873985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818E2D-87F2-08F3-CD6A-462D98AB6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6472F-4B11-4668-8FCF-A88903E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0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22D2-5723-50AE-B687-02A8A5A51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718D7-1CCC-1542-8CD9-FCA760318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DDEF6-F50A-36B3-891F-4F53F0C38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80BA5-BBB8-E262-12F3-C52F996893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04F769-0CB9-8879-96B4-7CF6688BF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B0E4B-F022-A840-93FF-ED6B14916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26E3-93F3-4C0A-BA91-E164AE45A18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A076DC-C8BC-50D2-A541-6DDA93D38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E1D8EC-D176-71D7-2E1E-40C340E66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6472F-4B11-4668-8FCF-A88903E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11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76DF5-0BF6-5F5C-BE2B-AEE4D1E05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A683CE-5C5D-62BC-D31C-7B89BE852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26E3-93F3-4C0A-BA91-E164AE45A18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5BA8AB-D126-83FE-028B-1EA9881ED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9940B-5E0A-11D8-2B1A-E32F37394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6472F-4B11-4668-8FCF-A88903E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16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165764-DD7D-6C41-7D82-3BBB9B6E5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26E3-93F3-4C0A-BA91-E164AE45A18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D3F8D0-2B8E-CE10-C8F5-8352FFFC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6C418-B9C9-B3DA-6791-CD1E4B94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6472F-4B11-4668-8FCF-A88903E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11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40838-DE88-F4E8-787F-E6EA069F9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1FDD1-C460-50B5-DEB4-D5D6F48FB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0E3B95-4F71-8BD5-12DD-B4FC70347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F537C-3319-C4A5-B2AD-74F1084A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26E3-93F3-4C0A-BA91-E164AE45A18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F419C-23FA-6B0C-A826-E2D3F68C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377F6-6906-A69A-D2A3-E5026AED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6472F-4B11-4668-8FCF-A88903E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3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5F707-38E6-255F-2A21-0D54AD11F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584ECD-8226-4B42-6284-8B073B8A1C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AEAECE-7235-F38B-D1F9-140B8D049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B7B68-9912-7B3A-D5F1-7799C5FF5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26E3-93F3-4C0A-BA91-E164AE45A18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A4F98-2621-A0BF-2D92-B9F388D07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27838-4D0B-ECEA-7BF8-873F09C37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6472F-4B11-4668-8FCF-A88903E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23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A2BD2-AE64-F9D1-4A9D-CC54A4D81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5B7177-AD5B-6629-C3BD-E5EBC7184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6CA9D-9007-5F33-514D-C8A5C9102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26E3-93F3-4C0A-BA91-E164AE45A18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48CC7-9473-32AC-3B68-D927A515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54E35-A74A-4D4F-E70B-B38F215AE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6472F-4B11-4668-8FCF-A88903E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967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14754-AF56-5FBF-ACFE-11EDE5772B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72D8AD-5115-67FA-431C-BD2C8EFCA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48F46-29C7-F409-6081-78E76BC3B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A26E3-93F3-4C0A-BA91-E164AE45A18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1BC8F-E17F-FDB8-11F1-97CFC1AD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E91B7-D0EC-A31D-AA7C-6ED24CC5E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6472F-4B11-4668-8FCF-A88903E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F273A1-3238-39BD-38BE-96E1CC17E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83FD2-1E37-AA01-A0ED-4ACEE1900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D2CE0-16E9-450E-804B-F9F78A2870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0A26E3-93F3-4C0A-BA91-E164AE45A18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5202C-1006-60BC-35A2-CA323397E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D5B42-F2B8-AB3C-3162-8F3E3BB34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66472F-4B11-4668-8FCF-A88903E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4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71D75-F65E-7F6C-1D8C-6D7ADDEFB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4626"/>
            <a:ext cx="9144000" cy="2387600"/>
          </a:xfrm>
        </p:spPr>
        <p:txBody>
          <a:bodyPr/>
          <a:lstStyle/>
          <a:p>
            <a:r>
              <a:rPr lang="en-US" dirty="0"/>
              <a:t>Apple Inc.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3A2C5-7007-3F71-31DC-2D37DB898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55962"/>
            <a:ext cx="9144000" cy="1655762"/>
          </a:xfrm>
        </p:spPr>
        <p:txBody>
          <a:bodyPr>
            <a:normAutofit/>
          </a:bodyPr>
          <a:lstStyle/>
          <a:p>
            <a:r>
              <a:rPr lang="en-US" sz="2800" dirty="0"/>
              <a:t>Corporate Development Analysis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BB8A330-CD4C-5EE9-5123-EA5AD6F8F2B4}"/>
              </a:ext>
            </a:extLst>
          </p:cNvPr>
          <p:cNvSpPr txBox="1">
            <a:spLocks/>
          </p:cNvSpPr>
          <p:nvPr/>
        </p:nvSpPr>
        <p:spPr>
          <a:xfrm>
            <a:off x="1524000" y="393504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Strategic Opportunities, M&amp;A &amp; Financial Analysis</a:t>
            </a:r>
          </a:p>
          <a:p>
            <a:r>
              <a:rPr lang="en-US" sz="1800" dirty="0"/>
              <a:t>Nainika Dharanipathi</a:t>
            </a:r>
          </a:p>
          <a:p>
            <a:r>
              <a:rPr lang="en-US" sz="1800" dirty="0"/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2807400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4F07C-0345-2583-45E1-2805AED03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75373-C263-5580-C5DD-807D84E07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Financial Strength</a:t>
            </a:r>
            <a:br>
              <a:rPr lang="en-US" dirty="0"/>
            </a:br>
            <a:r>
              <a:rPr lang="en-US" dirty="0"/>
              <a:t>Apple continues to generate substantial revenue, earnings, and free cash flow, giving the company flexibility for investment and M&amp;A.</a:t>
            </a:r>
          </a:p>
          <a:p>
            <a:r>
              <a:rPr lang="en-US" b="1" dirty="0"/>
              <a:t>Services Growth</a:t>
            </a:r>
            <a:br>
              <a:rPr lang="en-US" dirty="0"/>
            </a:br>
            <a:r>
              <a:rPr lang="en-US" dirty="0"/>
              <a:t>Services is growing faster than Apple's overall revenue, making it an important contributor to future growth and recurring revenue.</a:t>
            </a:r>
          </a:p>
          <a:p>
            <a:r>
              <a:rPr lang="en-US" b="1" dirty="0"/>
              <a:t>AI Opportunity</a:t>
            </a:r>
            <a:br>
              <a:rPr lang="en-US" dirty="0"/>
            </a:br>
            <a:r>
              <a:rPr lang="en-US" dirty="0"/>
              <a:t>Artificial intelligence is Apple's strongest strategic opportunity because it can improve multiple products and strengthen the existing ecosystem.</a:t>
            </a:r>
          </a:p>
          <a:p>
            <a:r>
              <a:rPr lang="en-US" b="1" dirty="0"/>
              <a:t>Recommendation</a:t>
            </a:r>
            <a:br>
              <a:rPr lang="en-US" dirty="0"/>
            </a:br>
            <a:r>
              <a:rPr lang="en-US" dirty="0"/>
              <a:t>Apple should pursue targeted, capability-driven M&amp;A while continuing to build core AI capabilities internally.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044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07FD6-D848-9840-34AA-E80104B2E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EA2C15-DDCF-77E5-F3E7-1E05368CBC1B}"/>
              </a:ext>
            </a:extLst>
          </p:cNvPr>
          <p:cNvSpPr txBox="1"/>
          <p:nvPr/>
        </p:nvSpPr>
        <p:spPr>
          <a:xfrm>
            <a:off x="8629650" y="6611779"/>
            <a:ext cx="3702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/>
              <a:t>Source: Apple Inc. financial statements; author's calculations.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BA7DAF7-D545-4A69-B4BB-892463D60C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0027744"/>
              </p:ext>
            </p:extLst>
          </p:nvPr>
        </p:nvGraphicFramePr>
        <p:xfrm>
          <a:off x="698500" y="1601787"/>
          <a:ext cx="7429500" cy="39481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C1B36AC-3752-04C6-FA42-A76F2DF20574}"/>
              </a:ext>
            </a:extLst>
          </p:cNvPr>
          <p:cNvSpPr txBox="1"/>
          <p:nvPr/>
        </p:nvSpPr>
        <p:spPr>
          <a:xfrm>
            <a:off x="8896504" y="3206254"/>
            <a:ext cx="30540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Revenue:</a:t>
            </a:r>
            <a:r>
              <a:rPr lang="en-US" dirty="0"/>
              <a:t> +6.4% FY2025</a:t>
            </a:r>
            <a:br>
              <a:rPr lang="en-US" dirty="0"/>
            </a:br>
            <a:r>
              <a:rPr lang="en-US" b="1" dirty="0"/>
              <a:t>Net Income:</a:t>
            </a:r>
            <a:r>
              <a:rPr lang="en-US" dirty="0"/>
              <a:t> +19.5% FY2025</a:t>
            </a:r>
            <a:br>
              <a:rPr lang="en-US" dirty="0"/>
            </a:br>
            <a:r>
              <a:rPr lang="en-US" b="1" dirty="0"/>
              <a:t>Services:</a:t>
            </a:r>
            <a:r>
              <a:rPr lang="en-US" dirty="0"/>
              <a:t> +13.5% FY2025</a:t>
            </a:r>
          </a:p>
        </p:txBody>
      </p:sp>
    </p:spTree>
    <p:extLst>
      <p:ext uri="{BB962C8B-B14F-4D97-AF65-F5344CB8AC3E}">
        <p14:creationId xmlns:p14="http://schemas.microsoft.com/office/powerpoint/2010/main" val="491126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50BE6-ECC8-DE0A-DC8B-A4B0C1570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Cash Generation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4CFBE5-60A5-4A91-B6B5-F19AACDE0A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855686"/>
              </p:ext>
            </p:extLst>
          </p:nvPr>
        </p:nvGraphicFramePr>
        <p:xfrm>
          <a:off x="838200" y="1774825"/>
          <a:ext cx="6985000" cy="3495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935B1F2-D993-A5DE-6B13-C0CB0D94662D}"/>
              </a:ext>
            </a:extLst>
          </p:cNvPr>
          <p:cNvSpPr txBox="1"/>
          <p:nvPr/>
        </p:nvSpPr>
        <p:spPr>
          <a:xfrm>
            <a:off x="8839200" y="3079750"/>
            <a:ext cx="23358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FY2024:</a:t>
            </a:r>
            <a:r>
              <a:rPr lang="en-US" dirty="0"/>
              <a:t> $108.8B</a:t>
            </a:r>
            <a:br>
              <a:rPr lang="en-US" dirty="0"/>
            </a:br>
            <a:r>
              <a:rPr lang="en-US" b="1" dirty="0"/>
              <a:t>FY2025:</a:t>
            </a:r>
            <a:r>
              <a:rPr lang="en-US" dirty="0"/>
              <a:t> $98.8B</a:t>
            </a:r>
            <a:br>
              <a:rPr lang="en-US" dirty="0"/>
            </a:br>
            <a:r>
              <a:rPr lang="en-US" b="1" dirty="0"/>
              <a:t>FY2026 YTD:</a:t>
            </a:r>
            <a:r>
              <a:rPr lang="en-US" dirty="0"/>
              <a:t> $110.2B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5041BA-5F76-CE5F-8746-890C0900CFB7}"/>
              </a:ext>
            </a:extLst>
          </p:cNvPr>
          <p:cNvSpPr txBox="1"/>
          <p:nvPr/>
        </p:nvSpPr>
        <p:spPr>
          <a:xfrm>
            <a:off x="1790700" y="5354637"/>
            <a:ext cx="5079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Takeaway:</a:t>
            </a:r>
            <a:br>
              <a:rPr lang="en-US" dirty="0"/>
            </a:br>
            <a:r>
              <a:rPr lang="en-US" dirty="0"/>
              <a:t>Apple's strong cash generation provides flexibility for R&amp;D, shareholder returns, and selective M&amp;A.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20731-A985-B5BA-F8D7-865F9BB8AD84}"/>
              </a:ext>
            </a:extLst>
          </p:cNvPr>
          <p:cNvSpPr txBox="1"/>
          <p:nvPr/>
        </p:nvSpPr>
        <p:spPr>
          <a:xfrm>
            <a:off x="8628140" y="6611779"/>
            <a:ext cx="36279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Source: Apple Inc. financial statements; author's calculations.</a:t>
            </a:r>
          </a:p>
        </p:txBody>
      </p:sp>
    </p:spTree>
    <p:extLst>
      <p:ext uri="{BB962C8B-B14F-4D97-AF65-F5344CB8AC3E}">
        <p14:creationId xmlns:p14="http://schemas.microsoft.com/office/powerpoint/2010/main" val="4234840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B0232-30F8-DAB4-34F0-5C7AD3B4B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33A66-E5EF-ACE9-F4D1-6E05F5F0C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42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01 — Artificial Intelligence</a:t>
            </a:r>
          </a:p>
          <a:p>
            <a:pPr marL="0" indent="0">
              <a:buNone/>
            </a:pPr>
            <a:r>
              <a:rPr lang="en-US" dirty="0"/>
              <a:t>Strengthen Apple Intelligence, Siri, on-device AI, and AI-enabled services.</a:t>
            </a:r>
          </a:p>
          <a:p>
            <a:pPr marL="0" indent="0">
              <a:buNone/>
            </a:pPr>
            <a:r>
              <a:rPr lang="en-US" b="1" dirty="0"/>
              <a:t>02 — Services</a:t>
            </a:r>
          </a:p>
          <a:p>
            <a:pPr marL="0" indent="0">
              <a:buNone/>
            </a:pPr>
            <a:r>
              <a:rPr lang="en-US" dirty="0"/>
              <a:t>Expand recurring revenue through subscriptions, ecosystem services, and new digital offerings.</a:t>
            </a:r>
          </a:p>
          <a:p>
            <a:pPr marL="0" indent="0">
              <a:buNone/>
            </a:pPr>
            <a:r>
              <a:rPr lang="en-US" b="1" dirty="0"/>
              <a:t>03 — Health &amp; Connected Technology</a:t>
            </a:r>
          </a:p>
          <a:p>
            <a:pPr marL="0" indent="0">
              <a:buNone/>
            </a:pPr>
            <a:r>
              <a:rPr lang="en-US" dirty="0"/>
              <a:t>Expand consumer health, sensors, wellness, and connected-device capabilities.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Priority: </a:t>
            </a:r>
            <a:r>
              <a:rPr lang="en-US" dirty="0"/>
              <a:t>Artificial Intelligence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0126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93E6D-A715-4EE7-CFD2-4C8DB72D6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M&amp;A Opportunity: Artificial Intelligence</a:t>
            </a:r>
            <a:br>
              <a:rPr lang="en-US" dirty="0"/>
            </a:br>
            <a:r>
              <a:rPr lang="en-US" sz="2000" dirty="0"/>
              <a:t>Acquire capabilities, not simply companies.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3B1F2-3C0D-31FD-33A5-E54A673E2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What Apple Should Seek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On-device AI, AI agents, machine-learning infrastructure, search, and specialized AI talent.</a:t>
            </a:r>
          </a:p>
          <a:p>
            <a:pPr marL="0" indent="0">
              <a:buNone/>
            </a:pPr>
            <a:r>
              <a:rPr lang="en-US" b="1" dirty="0"/>
              <a:t>Why Buy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Speed, intellectual property, specialized talent, and capabilities that may take years to develop internally.</a:t>
            </a:r>
          </a:p>
          <a:p>
            <a:pPr marL="0" indent="0">
              <a:buNone/>
            </a:pPr>
            <a:r>
              <a:rPr lang="en-US" b="1" dirty="0"/>
              <a:t>What to Avoid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Large acquisitions that duplicate Apple's existing capabilities or require unrealistic assumptions to justify the purchase price.</a:t>
            </a:r>
          </a:p>
          <a:p>
            <a:pPr marL="0" indent="0">
              <a:buNone/>
            </a:pPr>
            <a:endParaRPr lang="en-US" sz="1700" dirty="0"/>
          </a:p>
          <a:p>
            <a:r>
              <a:rPr lang="en-US" b="1" dirty="0"/>
              <a:t>Recommended approach: Targeted AI acquisitions + internal development + strategic partnerships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800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FD4F-3ADA-09D1-D986-F631F9D3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M&amp;A Capability Screening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337806A-B1ED-4010-8688-02F8B08009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1514308"/>
              </p:ext>
            </p:extLst>
          </p:nvPr>
        </p:nvGraphicFramePr>
        <p:xfrm>
          <a:off x="838200" y="1570988"/>
          <a:ext cx="6487036" cy="35534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E338275-6660-610B-15B2-1DCB33EA5B4E}"/>
              </a:ext>
            </a:extLst>
          </p:cNvPr>
          <p:cNvSpPr txBox="1"/>
          <p:nvPr/>
        </p:nvSpPr>
        <p:spPr>
          <a:xfrm>
            <a:off x="7407786" y="2585630"/>
            <a:ext cx="45111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 / Machine Learning</a:t>
            </a:r>
            <a:r>
              <a:rPr lang="en-US" dirty="0"/>
              <a:t> and </a:t>
            </a:r>
            <a:r>
              <a:rPr lang="en-US" b="1" dirty="0"/>
              <a:t>Semiconductor / Chip Technology</a:t>
            </a:r>
            <a:r>
              <a:rPr lang="en-US" dirty="0"/>
              <a:t> currently rank among the strongest capability areas in the preliminary screening.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2B8465-8B18-1289-E0E8-9C0E5464CD27}"/>
              </a:ext>
            </a:extLst>
          </p:cNvPr>
          <p:cNvSpPr txBox="1"/>
          <p:nvPr/>
        </p:nvSpPr>
        <p:spPr>
          <a:xfrm>
            <a:off x="4506590" y="6611779"/>
            <a:ext cx="78470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Source: Author's preliminary strategic screening framework; scores represent analyst judgments, not Apple's announced acquisition plans.</a:t>
            </a:r>
          </a:p>
        </p:txBody>
      </p:sp>
    </p:spTree>
    <p:extLst>
      <p:ext uri="{BB962C8B-B14F-4D97-AF65-F5344CB8AC3E}">
        <p14:creationId xmlns:p14="http://schemas.microsoft.com/office/powerpoint/2010/main" val="2573963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46AD9-450D-D011-86C3-98BCE2C31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D1016-C626-3168-A88D-B54F428FE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117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AI Competition</a:t>
            </a:r>
            <a:br>
              <a:rPr lang="en-US" dirty="0"/>
            </a:br>
            <a:r>
              <a:rPr lang="en-US" dirty="0"/>
              <a:t>Rapid technological change could cause Apple to fall behind competitors or make expensive investments obsolete.</a:t>
            </a:r>
          </a:p>
          <a:p>
            <a:pPr marL="0" indent="0">
              <a:buNone/>
            </a:pPr>
            <a:r>
              <a:rPr lang="en-US" b="1" dirty="0"/>
              <a:t>iPhone Dependence</a:t>
            </a:r>
            <a:br>
              <a:rPr lang="en-US" dirty="0"/>
            </a:br>
            <a:r>
              <a:rPr lang="en-US" dirty="0"/>
              <a:t>The iPhone remains a major driver of Apple's business, creating concentration risk.</a:t>
            </a:r>
          </a:p>
          <a:p>
            <a:pPr marL="0" indent="0">
              <a:buNone/>
            </a:pPr>
            <a:r>
              <a:rPr lang="en-US" b="1" dirty="0"/>
              <a:t>Regulatory Pressure</a:t>
            </a:r>
            <a:br>
              <a:rPr lang="en-US" dirty="0"/>
            </a:br>
            <a:r>
              <a:rPr lang="en-US" dirty="0"/>
              <a:t>Antitrust and digital-market regulation could affect Apple's ecosystem and Services economics.</a:t>
            </a:r>
          </a:p>
          <a:p>
            <a:pPr marL="0" indent="0">
              <a:buNone/>
            </a:pPr>
            <a:r>
              <a:rPr lang="en-US" b="1" dirty="0"/>
              <a:t>M&amp;A Integration</a:t>
            </a:r>
            <a:br>
              <a:rPr lang="en-US" dirty="0"/>
            </a:br>
            <a:r>
              <a:rPr lang="en-US" dirty="0"/>
              <a:t>Apple could overpay, fail to integrate acquired technology, or lose key talent.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b="1" dirty="0"/>
              <a:t>Key theme:</a:t>
            </a:r>
            <a:r>
              <a:rPr lang="en-US" dirty="0"/>
              <a:t> Financial strength reduces constraints, but disciplined decision-making remains essential.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403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21B8-2DD9-46DD-E3D3-B4A6F825C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Corporate Development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86E90-8CAC-673A-6845-6B5DF9553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Pursue targeted, AI-focused M&amp;A while continuing to build core capabilities internally.</a:t>
            </a:r>
          </a:p>
          <a:p>
            <a:pPr marL="0" indent="0">
              <a:buNone/>
            </a:pPr>
            <a:r>
              <a:rPr lang="en-US" sz="2400" b="1" dirty="0"/>
              <a:t>Why?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Apple has the financial capacity to invest, but acquisitions should be used to fill specific capability gaps rather than simply increase scale.</a:t>
            </a:r>
          </a:p>
          <a:p>
            <a:pPr marL="0" indent="0">
              <a:buNone/>
            </a:pPr>
            <a:r>
              <a:rPr lang="en-US" sz="2400" b="1" dirty="0"/>
              <a:t>Expected Impact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Faster AI development, stronger Apple Intelligence and Siri capabilities, increased ecosystem value, and potential long-term Services opportunities.</a:t>
            </a:r>
          </a:p>
          <a:p>
            <a:pPr marL="0" indent="0">
              <a:buNone/>
            </a:pPr>
            <a:r>
              <a:rPr lang="en-US" sz="2400" b="1" dirty="0"/>
              <a:t>Biggest Concern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Overpaying for rapidly changing technology.</a:t>
            </a:r>
          </a:p>
          <a:p>
            <a:pPr marL="0" indent="0">
              <a:buNone/>
            </a:pP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640808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C6969-C988-CDA8-D590-4D255F01C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2B63E-65D9-62B3-EEDE-4F5F55012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Overall Assessment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Apple is well positioned for continued growth, but its corporate development strategy should prioritize strategic fit, disciplined valuation, and long-term value creation over transaction size.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Selected Sources</a:t>
            </a:r>
            <a:endParaRPr lang="en-US" dirty="0"/>
          </a:p>
          <a:p>
            <a:r>
              <a:rPr lang="en-US" dirty="0"/>
              <a:t>Apple Inc. — Annual Report / Form 10-K</a:t>
            </a:r>
            <a:br>
              <a:rPr lang="en-US" dirty="0"/>
            </a:br>
            <a:r>
              <a:rPr lang="en-US" dirty="0"/>
              <a:t>Apple Inc. — Q3 FY2026 Financial Statements</a:t>
            </a:r>
            <a:br>
              <a:rPr lang="en-US" dirty="0"/>
            </a:br>
            <a:r>
              <a:rPr lang="en-US" dirty="0"/>
              <a:t>Apple Inc. — Q3 FY2025 Financial Statements</a:t>
            </a:r>
            <a:br>
              <a:rPr lang="en-US" dirty="0"/>
            </a:br>
            <a:r>
              <a:rPr lang="en-US" dirty="0"/>
              <a:t>Apple Inc. — Investor Relations</a:t>
            </a:r>
            <a:br>
              <a:rPr lang="en-US" dirty="0"/>
            </a:br>
            <a:r>
              <a:rPr lang="en-US" dirty="0"/>
              <a:t>Apple Inc. — Apple Intelligence / Siri announcements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33E15-CE70-3337-C9D7-64EBC992633A}"/>
              </a:ext>
            </a:extLst>
          </p:cNvPr>
          <p:cNvSpPr txBox="1"/>
          <p:nvPr/>
        </p:nvSpPr>
        <p:spPr>
          <a:xfrm>
            <a:off x="8375650" y="6611779"/>
            <a:ext cx="3882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Independent student research. Prepared for educational purposes.</a:t>
            </a:r>
          </a:p>
        </p:txBody>
      </p:sp>
    </p:spTree>
    <p:extLst>
      <p:ext uri="{BB962C8B-B14F-4D97-AF65-F5344CB8AC3E}">
        <p14:creationId xmlns:p14="http://schemas.microsoft.com/office/powerpoint/2010/main" val="1477788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678</Words>
  <Application>Microsoft Office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Apple Inc.</vt:lpstr>
      <vt:lpstr>Executive Summary </vt:lpstr>
      <vt:lpstr>Financial Performance</vt:lpstr>
      <vt:lpstr>Cash Generation</vt:lpstr>
      <vt:lpstr>Strategic Opportunities</vt:lpstr>
      <vt:lpstr>M&amp;A Opportunity: Artificial Intelligence Acquire capabilities, not simply companies.</vt:lpstr>
      <vt:lpstr>M&amp;A Capability Screening</vt:lpstr>
      <vt:lpstr>Key Risks</vt:lpstr>
      <vt:lpstr>Corporate Development Recommendation</vt:lpstr>
      <vt:lpstr>Conclusion &amp;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Nainika Dharanipathi</dc:creator>
  <cp:lastModifiedBy>Nainika Dharanipathi</cp:lastModifiedBy>
  <cp:revision>4</cp:revision>
  <dcterms:created xsi:type="dcterms:W3CDTF">2026-08-17T15:37:08Z</dcterms:created>
  <dcterms:modified xsi:type="dcterms:W3CDTF">2026-08-17T16:09:29Z</dcterms:modified>
</cp:coreProperties>
</file>